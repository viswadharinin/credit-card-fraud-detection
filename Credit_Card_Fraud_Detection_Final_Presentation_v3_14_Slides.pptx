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9" r:id="rId20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8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49807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CREDIT CARD FRAUD</a:t>
            </a:r>
            <a:br/>
            <a:r>
              <a:t>DETECTION USING</a:t>
            </a:r>
            <a:br/>
            <a:r>
              <a:t>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3886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D2E1F0"/>
                </a:solidFill>
                <a:latin typeface="Aptos"/>
              </a:defRPr>
            </a:pPr>
            <a:r>
              <a:t>Final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438912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CDE1"/>
                </a:solidFill>
                <a:latin typeface="Aptos"/>
              </a:defRPr>
            </a:pPr>
            <a:r>
              <a:t>Logistic Regression • EDA • Power BI • Gradio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1234440"/>
            <a:ext cx="29260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66760" y="1234440"/>
            <a:ext cx="73152" cy="1234440"/>
          </a:xfrm>
          <a:prstGeom prst="rect">
            <a:avLst/>
          </a:prstGeom>
          <a:solidFill>
            <a:srgbClr val="228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67928" y="139903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A697D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67928" y="1746504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62D4E"/>
                </a:solidFill>
                <a:latin typeface="Aptos"/>
              </a:defRPr>
            </a:pPr>
            <a:r>
              <a:t>284,807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7928" y="221284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A697D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2697480"/>
            <a:ext cx="29260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66760" y="2697480"/>
            <a:ext cx="73152" cy="1234440"/>
          </a:xfrm>
          <a:prstGeom prst="rect">
            <a:avLst/>
          </a:prstGeom>
          <a:solidFill>
            <a:srgbClr val="2A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67928" y="286207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A697D"/>
                </a:solidFill>
                <a:latin typeface="Aptos"/>
              </a:defRPr>
            </a:pPr>
            <a:r>
              <a:t>Fraud 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7928" y="3209544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62D4E"/>
                </a:solidFill>
                <a:latin typeface="Aptos"/>
              </a:defRPr>
            </a:pPr>
            <a:r>
              <a:t>492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7928" y="367588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A697D"/>
                </a:solidFill>
                <a:latin typeface="Aptos"/>
              </a:defRPr>
            </a:pPr>
            <a:r>
              <a:t>0.1727% of dataset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4160520"/>
            <a:ext cx="29260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4160520"/>
            <a:ext cx="73152" cy="1234440"/>
          </a:xfrm>
          <a:prstGeom prst="rect">
            <a:avLst/>
          </a:prstGeom>
          <a:solidFill>
            <a:srgbClr val="4C8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67928" y="432511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A697D"/>
                </a:solidFill>
                <a:latin typeface="Aptos"/>
              </a:defRPr>
            </a:pPr>
            <a:r>
              <a:t>ROC-AUC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4672583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62D4E"/>
                </a:solidFill>
                <a:latin typeface="Aptos"/>
              </a:defRPr>
            </a:pPr>
            <a:r>
              <a:t>0.9737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513892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A697D"/>
                </a:solidFill>
                <a:latin typeface="Aptos"/>
              </a:defRPr>
            </a:pPr>
            <a:r>
              <a:t>final test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5989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7E6"/>
                </a:solidFill>
                <a:latin typeface="Aptos"/>
              </a:defRPr>
            </a:pPr>
            <a:r>
              <a:t>Viswadharini Navamani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5349240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2E1F0"/>
                </a:solidFill>
                <a:latin typeface="Aptos"/>
              </a:defRPr>
            </a:pPr>
            <a:r>
              <a:t>Presented by: Viswadharini Navamani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E1F0"/>
                </a:solidFill>
                <a:latin typeface="Aptos"/>
              </a:defRPr>
            </a:pPr>
            <a:r>
              <a:t>01 •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2D4E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32830"/>
                </a:solidFill>
                <a:latin typeface="Aptos"/>
              </a:defRPr>
            </a:pPr>
            <a:r>
              <a:t>Credit card fraud detection is challenging because fraudulent transactions are rare and fraud patterns can change over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2D4E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46304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50">
                <a:solidFill>
                  <a:srgbClr val="232830"/>
                </a:solidFill>
                <a:latin typeface="Aptos"/>
              </a:defRPr>
            </a:pPr>
            <a:r>
              <a:t>• Analyze legitimate and fraudulent transaction patterns.</a:t>
            </a:r>
          </a:p>
          <a:p>
            <a:pPr>
              <a:spcAft>
                <a:spcPts val="1000"/>
              </a:spcAft>
              <a:defRPr sz="1650">
                <a:solidFill>
                  <a:srgbClr val="232830"/>
                </a:solidFill>
                <a:latin typeface="Aptos"/>
              </a:defRPr>
            </a:pPr>
            <a:r>
              <a:t>• Clean and prepare the transaction data for modeling.</a:t>
            </a:r>
          </a:p>
          <a:p>
            <a:pPr>
              <a:spcAft>
                <a:spcPts val="1000"/>
              </a:spcAft>
              <a:defRPr sz="1650">
                <a:solidFill>
                  <a:srgbClr val="232830"/>
                </a:solidFill>
                <a:latin typeface="Aptos"/>
              </a:defRPr>
            </a:pPr>
            <a:r>
              <a:t>• Handle severe class imbalance.</a:t>
            </a:r>
          </a:p>
          <a:p>
            <a:pPr>
              <a:spcAft>
                <a:spcPts val="1000"/>
              </a:spcAft>
              <a:defRPr sz="1650">
                <a:solidFill>
                  <a:srgbClr val="232830"/>
                </a:solidFill>
                <a:latin typeface="Aptos"/>
              </a:defRPr>
            </a:pPr>
            <a:r>
              <a:t>• Build and evaluate a Logistic Regression classifier.</a:t>
            </a:r>
          </a:p>
          <a:p>
            <a:pPr>
              <a:spcAft>
                <a:spcPts val="1000"/>
              </a:spcAft>
              <a:defRPr sz="1650">
                <a:solidFill>
                  <a:srgbClr val="232830"/>
                </a:solidFill>
                <a:latin typeface="Aptos"/>
              </a:defRPr>
            </a:pPr>
            <a:r>
              <a:t>• Identify important fraud predictors.</a:t>
            </a:r>
          </a:p>
          <a:p>
            <a:pPr>
              <a:spcAft>
                <a:spcPts val="1000"/>
              </a:spcAft>
              <a:defRPr sz="1650">
                <a:solidFill>
                  <a:srgbClr val="232830"/>
                </a:solidFill>
                <a:latin typeface="Aptos"/>
              </a:defRPr>
            </a:pPr>
            <a:r>
              <a:t>• Create a Power BI dashboard and a user-facing prediction interface.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697D"/>
                </a:solidFill>
                <a:latin typeface="Aptos"/>
              </a:defRPr>
            </a:pPr>
            <a:r>
              <a:t>Credit Card Fraud Detection Using Machine Learning   •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Dataset &amp; 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E1F0"/>
                </a:solidFill>
                <a:latin typeface="Aptos"/>
              </a:defRPr>
            </a:pPr>
            <a:r>
              <a:t>02 •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256032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73152" cy="1188720"/>
          </a:xfrm>
          <a:prstGeom prst="rect">
            <a:avLst/>
          </a:prstGeom>
          <a:solidFill>
            <a:srgbClr val="2A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216151"/>
            <a:ext cx="2240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A697D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563624"/>
            <a:ext cx="2240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62D4E"/>
                </a:solidFill>
                <a:latin typeface="Aptos"/>
              </a:defRPr>
            </a:pPr>
            <a:r>
              <a:t>284,807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051560"/>
            <a:ext cx="256032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051560"/>
            <a:ext cx="73152" cy="1188720"/>
          </a:xfrm>
          <a:prstGeom prst="rect">
            <a:avLst/>
          </a:prstGeom>
          <a:solidFill>
            <a:srgbClr val="228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216151"/>
            <a:ext cx="2240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A697D"/>
                </a:solidFill>
                <a:latin typeface="Aptos"/>
              </a:defRPr>
            </a:pPr>
            <a:r>
              <a:t>Input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1563624"/>
            <a:ext cx="2240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62D4E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029967"/>
            <a:ext cx="2240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A697D"/>
                </a:solidFill>
                <a:latin typeface="Aptos"/>
              </a:defRPr>
            </a:pPr>
            <a:r>
              <a:t>Time, V1–V28, Amount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051560"/>
            <a:ext cx="256032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051560"/>
            <a:ext cx="73152" cy="1188720"/>
          </a:xfrm>
          <a:prstGeom prst="rect">
            <a:avLst/>
          </a:prstGeom>
          <a:solidFill>
            <a:srgbClr val="B26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1216151"/>
            <a:ext cx="2240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A697D"/>
                </a:solidFill>
                <a:latin typeface="Aptos"/>
              </a:defRPr>
            </a:pPr>
            <a:r>
              <a:t>Fraud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563624"/>
            <a:ext cx="2240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62D4E"/>
                </a:solidFill>
                <a:latin typeface="Aptos"/>
              </a:defRPr>
            </a:pPr>
            <a:r>
              <a:t>492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029967"/>
            <a:ext cx="2240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A697D"/>
                </a:solidFill>
                <a:latin typeface="Aptos"/>
              </a:defRPr>
            </a:pPr>
            <a:r>
              <a:t>Class =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1051560"/>
            <a:ext cx="256032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680" y="1051560"/>
            <a:ext cx="73152" cy="1188720"/>
          </a:xfrm>
          <a:prstGeom prst="rect">
            <a:avLst/>
          </a:prstGeom>
          <a:solidFill>
            <a:srgbClr val="74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0848" y="1216151"/>
            <a:ext cx="2240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A697D"/>
                </a:solidFill>
                <a:latin typeface="Aptos"/>
              </a:defRPr>
            </a:pPr>
            <a:r>
              <a:t>Duplicates removed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0848" y="1563624"/>
            <a:ext cx="22402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62D4E"/>
                </a:solidFill>
                <a:latin typeface="Aptos"/>
              </a:defRPr>
            </a:pPr>
            <a:r>
              <a:t>1,081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0848" y="2029967"/>
            <a:ext cx="2240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A697D"/>
                </a:solidFill>
                <a:latin typeface="Aptos"/>
              </a:defRPr>
            </a:pPr>
            <a:r>
              <a:t>during data cleaning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57860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2D4E"/>
                </a:solidFill>
                <a:latin typeface="Aptos"/>
              </a:defRPr>
            </a:pPr>
            <a:r>
              <a:t>Data preparation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063240"/>
            <a:ext cx="5074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SQL extraction / data access</a:t>
            </a:r>
          </a:p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Pandas loading and profiling</a:t>
            </a:r>
          </a:p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Missing-value and duplicate checks</a:t>
            </a:r>
          </a:p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Class distribution analysis</a:t>
            </a:r>
          </a:p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Feature scaling using StandardScaler</a:t>
            </a:r>
          </a:p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Train / validation / test split with stratification</a:t>
            </a:r>
          </a:p>
        </p:txBody>
      </p:sp>
      <p:pic>
        <p:nvPicPr>
          <p:cNvPr id="27" name="Picture 26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19" y="3082397"/>
            <a:ext cx="5394960" cy="142472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035040" y="48920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A697D"/>
                </a:solidFill>
                <a:latin typeface="Aptos"/>
              </a:defRPr>
            </a:pPr>
            <a:r>
              <a:t>Final split: 182,276 training • 45,569 validation • 56,962 testing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697D"/>
                </a:solidFill>
                <a:latin typeface="Aptos"/>
              </a:defRPr>
            </a:pPr>
            <a:r>
              <a:t>Credit Card Fraud Detection Using Machine Learning   •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E1F0"/>
                </a:solidFill>
                <a:latin typeface="Aptos"/>
              </a:defRPr>
            </a:pPr>
            <a:r>
              <a:t>03 • EDA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62D4E"/>
                </a:solidFill>
                <a:latin typeface="Aptos"/>
              </a:defRPr>
            </a:pPr>
            <a:r>
              <a:t>Severe class imbalance</a:t>
            </a:r>
          </a:p>
        </p:txBody>
      </p:sp>
      <p:pic>
        <p:nvPicPr>
          <p:cNvPr id="7" name="Picture 6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16226"/>
            <a:ext cx="5212080" cy="34712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5778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A697D"/>
                </a:solidFill>
                <a:latin typeface="Aptos"/>
              </a:defRPr>
            </a:pPr>
            <a:r>
              <a:t>Legitimate vs fraudulent transactions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914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62D4E"/>
                </a:solidFill>
                <a:latin typeface="Aptos"/>
              </a:defRPr>
            </a:pPr>
            <a:r>
              <a:t>Transaction amount and timing</a:t>
            </a:r>
          </a:p>
        </p:txBody>
      </p:sp>
      <p:pic>
        <p:nvPicPr>
          <p:cNvPr id="10" name="Picture 9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560" y="1325879"/>
            <a:ext cx="3224758" cy="2148840"/>
          </a:xfrm>
          <a:prstGeom prst="rect">
            <a:avLst/>
          </a:prstGeom>
        </p:spPr>
      </p:pic>
      <p:pic>
        <p:nvPicPr>
          <p:cNvPr id="11" name="Picture 10" descr="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551" y="3657600"/>
            <a:ext cx="3088776" cy="21488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697D"/>
                </a:solidFill>
                <a:latin typeface="Aptos"/>
              </a:defRPr>
            </a:pPr>
            <a:r>
              <a:t>Credit Card Fraud Detection Using Machine Learning   •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Key EDA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E1F0"/>
                </a:solidFill>
                <a:latin typeface="Aptos"/>
              </a:defRPr>
            </a:pPr>
            <a:r>
              <a:t>03 • EDA</a:t>
            </a:r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37785"/>
            <a:ext cx="5257800" cy="3508108"/>
          </a:xfrm>
          <a:prstGeom prst="rect">
            <a:avLst/>
          </a:prstGeom>
        </p:spPr>
      </p:pic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40578"/>
            <a:ext cx="5257800" cy="35025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7150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32830"/>
                </a:solidFill>
                <a:latin typeface="Aptos"/>
              </a:defRPr>
            </a:pPr>
            <a:r>
              <a:t>Fraudulent transactions show distinct distributions in transaction amount and several anonymized features.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697D"/>
                </a:solidFill>
                <a:latin typeface="Aptos"/>
              </a:defRPr>
            </a:pPr>
            <a:r>
              <a:t>Credit Card Fraud Detection Using Machine Learning   •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Model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E1F0"/>
                </a:solidFill>
                <a:latin typeface="Aptos"/>
              </a:defRPr>
            </a:pPr>
            <a:r>
              <a:t>04 • MODEL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1234440"/>
            <a:ext cx="566928" cy="566928"/>
          </a:xfrm>
          <a:prstGeom prst="ellipse">
            <a:avLst/>
          </a:prstGeom>
          <a:solidFill>
            <a:srgbClr val="2A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901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2D4E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267712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A697D"/>
                </a:solidFill>
                <a:latin typeface="Aptos"/>
              </a:defRPr>
            </a:pPr>
            <a:r>
              <a:t>Train / validation / 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52728" y="1481328"/>
            <a:ext cx="1554480" cy="32004"/>
          </a:xfrm>
          <a:prstGeom prst="rect">
            <a:avLst/>
          </a:prstGeom>
          <a:solidFill>
            <a:srgbClr val="BE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80360" y="1234440"/>
            <a:ext cx="566928" cy="566928"/>
          </a:xfrm>
          <a:prstGeom prst="ellipse">
            <a:avLst/>
          </a:prstGeom>
          <a:solidFill>
            <a:srgbClr val="2A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344168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5768" y="1901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2D4E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79" y="2267712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A697D"/>
                </a:solidFill>
                <a:latin typeface="Aptos"/>
              </a:defRPr>
            </a:pPr>
            <a:r>
              <a:t>StandardScaler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38728" y="1481328"/>
            <a:ext cx="1554480" cy="32004"/>
          </a:xfrm>
          <a:prstGeom prst="rect">
            <a:avLst/>
          </a:prstGeom>
          <a:solidFill>
            <a:srgbClr val="BE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66360" y="1234440"/>
            <a:ext cx="566928" cy="566928"/>
          </a:xfrm>
          <a:prstGeom prst="ellipse">
            <a:avLst/>
          </a:prstGeom>
          <a:solidFill>
            <a:srgbClr val="2A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1344168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1768" y="1901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2D4E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267712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A697D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24728" y="1481328"/>
            <a:ext cx="1554480" cy="32004"/>
          </a:xfrm>
          <a:prstGeom prst="rect">
            <a:avLst/>
          </a:prstGeom>
          <a:solidFill>
            <a:srgbClr val="BE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52360" y="1234440"/>
            <a:ext cx="566928" cy="566928"/>
          </a:xfrm>
          <a:prstGeom prst="ellipse">
            <a:avLst/>
          </a:prstGeom>
          <a:solidFill>
            <a:srgbClr val="2A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1344168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7768" y="1901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2D4E"/>
                </a:solidFill>
                <a:latin typeface="Aptos"/>
              </a:defRPr>
            </a:pPr>
            <a:r>
              <a:t>Tune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267712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A697D"/>
                </a:solidFill>
                <a:latin typeface="Aptos"/>
              </a:defRPr>
            </a:pPr>
            <a:r>
              <a:t>Validation-selected threshold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10728" y="1481328"/>
            <a:ext cx="1554480" cy="32004"/>
          </a:xfrm>
          <a:prstGeom prst="rect">
            <a:avLst/>
          </a:prstGeom>
          <a:solidFill>
            <a:srgbClr val="BE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38360" y="1234440"/>
            <a:ext cx="566928" cy="566928"/>
          </a:xfrm>
          <a:prstGeom prst="ellipse">
            <a:avLst/>
          </a:prstGeom>
          <a:solidFill>
            <a:srgbClr val="2A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38360" y="1344168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73768" y="1901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2D4E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267712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A697D"/>
                </a:solidFill>
                <a:latin typeface="Aptos"/>
              </a:defRPr>
            </a:pPr>
            <a:r>
              <a:t>Unseen test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337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2D4E"/>
                </a:solidFill>
                <a:latin typeface="Aptos"/>
              </a:defRPr>
            </a:pPr>
            <a:r>
              <a:t>Why Logistic Regression?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79476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Suitable baseline for binary classification.</a:t>
            </a:r>
          </a:p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Produces interpretable coefficients for predictor analysis.</a:t>
            </a:r>
          </a:p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Balanced class weights address the strong class imbalance.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3429000"/>
            <a:ext cx="5120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32830"/>
                </a:solidFill>
                <a:latin typeface="Aptos"/>
              </a:defRPr>
            </a:pPr>
            <a:r>
              <a:t>Threshold selection was performed on validation data rather than the final test set, avoiding test-set leakage.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29400" y="4663440"/>
            <a:ext cx="420624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29400" y="4663440"/>
            <a:ext cx="73152" cy="1143000"/>
          </a:xfrm>
          <a:prstGeom prst="rect">
            <a:avLst/>
          </a:prstGeom>
          <a:solidFill>
            <a:srgbClr val="228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30568" y="4828031"/>
            <a:ext cx="3886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A697D"/>
                </a:solidFill>
                <a:latin typeface="Aptos"/>
              </a:defRPr>
            </a:pPr>
            <a:r>
              <a:t>Validation-selected threshold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0568" y="5175504"/>
            <a:ext cx="3886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62D4E"/>
                </a:solidFill>
                <a:latin typeface="Aptos"/>
              </a:defRPr>
            </a:pPr>
            <a:r>
              <a:t>0.9999984280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0568" y="5641848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A697D"/>
                </a:solidFill>
                <a:latin typeface="Aptos"/>
              </a:defRPr>
            </a:pPr>
            <a:r>
              <a:t>used for final test classification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697D"/>
                </a:solidFill>
                <a:latin typeface="Aptos"/>
              </a:defRPr>
            </a:pPr>
            <a:r>
              <a:t>Credit Card Fraud Detection Using Machine Learning   •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Model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E1F0"/>
                </a:solidFill>
                <a:latin typeface="Aptos"/>
              </a:defRPr>
            </a:pPr>
            <a:r>
              <a:t>04 •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60120"/>
            <a:ext cx="242316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960120"/>
            <a:ext cx="73152" cy="1143000"/>
          </a:xfrm>
          <a:prstGeom prst="rect">
            <a:avLst/>
          </a:prstGeom>
          <a:solidFill>
            <a:srgbClr val="2A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12471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A697D"/>
                </a:solidFill>
                <a:latin typeface="Aptos"/>
              </a:defRPr>
            </a:pPr>
            <a:r>
              <a:t>ROC-AUC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472184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62D4E"/>
                </a:solidFill>
                <a:latin typeface="Aptos"/>
              </a:defRPr>
            </a:pPr>
            <a:r>
              <a:t>0.9737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960120"/>
            <a:ext cx="242316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960120"/>
            <a:ext cx="73152" cy="1143000"/>
          </a:xfrm>
          <a:prstGeom prst="rect">
            <a:avLst/>
          </a:prstGeom>
          <a:solidFill>
            <a:srgbClr val="228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12471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A697D"/>
                </a:solidFill>
                <a:latin typeface="Aptos"/>
              </a:defRPr>
            </a:pPr>
            <a:r>
              <a:t>Fraud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1472184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62D4E"/>
                </a:solidFill>
                <a:latin typeface="Aptos"/>
              </a:defRPr>
            </a:pPr>
            <a:r>
              <a:t>0.78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960120"/>
            <a:ext cx="242316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60" y="960120"/>
            <a:ext cx="73152" cy="1143000"/>
          </a:xfrm>
          <a:prstGeom prst="rect">
            <a:avLst/>
          </a:prstGeom>
          <a:solidFill>
            <a:srgbClr val="4C87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112471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A697D"/>
                </a:solidFill>
                <a:latin typeface="Aptos"/>
              </a:defRPr>
            </a:pPr>
            <a:r>
              <a:t>Fraud 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1472184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62D4E"/>
                </a:solidFill>
                <a:latin typeface="Aptos"/>
              </a:defRPr>
            </a:pPr>
            <a:r>
              <a:t>0.82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960120"/>
            <a:ext cx="242316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58200" y="960120"/>
            <a:ext cx="73152" cy="1143000"/>
          </a:xfrm>
          <a:prstGeom prst="rect">
            <a:avLst/>
          </a:prstGeom>
          <a:solidFill>
            <a:srgbClr val="B26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112471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A697D"/>
                </a:solidFill>
                <a:latin typeface="Aptos"/>
              </a:defRPr>
            </a:pPr>
            <a:r>
              <a:t>Fraud F1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1472184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62D4E"/>
                </a:solidFill>
                <a:latin typeface="Aptos"/>
              </a:defRPr>
            </a:pPr>
            <a:r>
              <a:t>0.80</a:t>
            </a:r>
          </a:p>
        </p:txBody>
      </p:sp>
      <p:pic>
        <p:nvPicPr>
          <p:cNvPr id="22" name="Picture 21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180" y="2468880"/>
            <a:ext cx="5056199" cy="3246119"/>
          </a:xfrm>
          <a:prstGeom prst="rect">
            <a:avLst/>
          </a:prstGeom>
        </p:spPr>
      </p:pic>
      <p:pic>
        <p:nvPicPr>
          <p:cNvPr id="23" name="Picture 22" descr="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521881"/>
            <a:ext cx="5212080" cy="314011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4400" y="580644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32830"/>
                </a:solidFill>
                <a:latin typeface="Aptos"/>
              </a:defRPr>
            </a:pPr>
            <a:r>
              <a:t>The model demonstrates strong discrimination while correctly identifying most fraudulent transactions with relatively few false positives.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697D"/>
                </a:solidFill>
                <a:latin typeface="Aptos"/>
              </a:defRPr>
            </a:pPr>
            <a:r>
              <a:t>Credit Card Fraud Detection Using Machine Learning   •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Confusion Matrix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E1F0"/>
                </a:solidFill>
                <a:latin typeface="Aptos"/>
              </a:defRPr>
            </a:pPr>
            <a:r>
              <a:t>04 • MODEL</a:t>
            </a:r>
          </a:p>
        </p:txBody>
      </p:sp>
      <p:pic>
        <p:nvPicPr>
          <p:cNvPr id="6" name="Picture 5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20161"/>
            <a:ext cx="5577839" cy="33604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294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2D4E"/>
                </a:solidFill>
                <a:latin typeface="Aptos"/>
              </a:defRPr>
            </a:pPr>
            <a:r>
              <a:t>Final test-set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6459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56,842 legitimate transactions correctly classified.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22 legitimate transactions incorrectly flagged as fraud.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80 fraudulent transactions correctly detected.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18 fraudulent transactions missed by the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4617720"/>
            <a:ext cx="43434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0840" y="4617720"/>
            <a:ext cx="73152" cy="1143000"/>
          </a:xfrm>
          <a:prstGeom prst="rect">
            <a:avLst/>
          </a:prstGeom>
          <a:solidFill>
            <a:srgbClr val="2A6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22007" y="4782312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A697D"/>
                </a:solidFill>
                <a:latin typeface="Aptos"/>
              </a:defRPr>
            </a:pPr>
            <a:r>
              <a:t>Test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22007" y="5129783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62D4E"/>
                </a:solidFill>
                <a:latin typeface="Aptos"/>
              </a:defRPr>
            </a:pPr>
            <a:r>
              <a:t>56,962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559612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A697D"/>
                </a:solidFill>
                <a:latin typeface="Aptos"/>
              </a:defRPr>
            </a:pPr>
            <a:r>
              <a:t>98 fraudulent transactions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697D"/>
                </a:solidFill>
                <a:latin typeface="Aptos"/>
              </a:defRPr>
            </a:pPr>
            <a:r>
              <a:t>Credit Card Fraud Detection Using Machine Learning   •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Top Fraud Predictors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E1F0"/>
                </a:solidFill>
                <a:latin typeface="Aptos"/>
              </a:defRPr>
            </a:pPr>
            <a:r>
              <a:t>05 • INTERPRETATION</a:t>
            </a:r>
          </a:p>
        </p:txBody>
      </p:sp>
      <p:pic>
        <p:nvPicPr>
          <p:cNvPr id="6" name="Picture 5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7" y="1005839"/>
            <a:ext cx="5654025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0" y="1143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62D4E"/>
                </a:solidFill>
                <a:latin typeface="Aptos"/>
              </a:defRPr>
            </a:pPr>
            <a:r>
              <a:t>Most influential model coefficients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173736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Amount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V1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V14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V4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V10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V12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V5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V2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V17</a:t>
            </a:r>
          </a:p>
          <a:p>
            <a:pPr>
              <a:spcAft>
                <a:spcPts val="10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V20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56235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A697D"/>
                </a:solidFill>
                <a:latin typeface="Aptos"/>
              </a:defRPr>
            </a:pPr>
            <a:r>
              <a:t>Importance is based on the absolute Logistic Regression coefficient.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697D"/>
                </a:solidFill>
                <a:latin typeface="Aptos"/>
              </a:defRPr>
            </a:pPr>
            <a:r>
              <a:t>Credit Card Fraud Detection Using Machine Learning   •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Power BI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E1F0"/>
                </a:solidFill>
                <a:latin typeface="Aptos"/>
              </a:defRPr>
            </a:pPr>
            <a:r>
              <a:t>06 • BUSINESS INSIGHTS</a:t>
            </a:r>
          </a:p>
        </p:txBody>
      </p:sp>
      <p:pic>
        <p:nvPicPr>
          <p:cNvPr id="6" name="Picture 5" descr="imag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772" y="914400"/>
            <a:ext cx="8689975" cy="5257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8978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0">
                <a:solidFill>
                  <a:srgbClr val="232830"/>
                </a:solidFill>
                <a:latin typeface="Aptos"/>
              </a:defRPr>
            </a:pPr>
            <a:r>
              <a:t>Interactive view of transaction volume, fraud distribution, transaction amounts, fraud rates and time-based patterns.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697D"/>
                </a:solidFill>
                <a:latin typeface="Aptos"/>
              </a:defRPr>
            </a:pPr>
            <a:r>
              <a:t>Credit Card Fraud Detection Using Machine Learning   •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Fraud Detection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E1F0"/>
                </a:solidFill>
                <a:latin typeface="Aptos"/>
              </a:defRPr>
            </a:pPr>
            <a:r>
              <a:t>07 • IMPLEMENTATION</a:t>
            </a:r>
          </a:p>
        </p:txBody>
      </p:sp>
      <p:pic>
        <p:nvPicPr>
          <p:cNvPr id="6" name="Picture 5" descr="image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61969"/>
            <a:ext cx="5029200" cy="2059740"/>
          </a:xfrm>
          <a:prstGeom prst="rect">
            <a:avLst/>
          </a:prstGeom>
        </p:spPr>
      </p:pic>
      <p:pic>
        <p:nvPicPr>
          <p:cNvPr id="7" name="Picture 6" descr="image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90646"/>
            <a:ext cx="5029200" cy="28023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532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62D4E"/>
                </a:solidFill>
                <a:latin typeface="Aptos"/>
              </a:defRPr>
            </a:pPr>
            <a:r>
              <a:t>Normal transaction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532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62D4E"/>
                </a:solidFill>
                <a:latin typeface="Aptos"/>
              </a:defRPr>
            </a:pPr>
            <a:r>
              <a:t>Fraudulent transaction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0">
                <a:solidFill>
                  <a:srgbClr val="232830"/>
                </a:solidFill>
                <a:latin typeface="Aptos"/>
              </a:defRPr>
            </a:pPr>
            <a:r>
              <a:t>The Gradio interface accepts transaction features and returns a predicted class and fraud probability.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697D"/>
                </a:solidFill>
                <a:latin typeface="Aptos"/>
              </a:defRPr>
            </a:pPr>
            <a:r>
              <a:t>Credit Card Fraud Detection Using Machine Learning   •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E1F0"/>
                </a:solidFill>
                <a:latin typeface="Aptos"/>
              </a:defRPr>
            </a:pPr>
            <a:r>
              <a:t>08 • 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05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62D4E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The Logistic Regression model achieved ROC-AUC of 0.9737.</a:t>
            </a:r>
          </a:p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Fraud precision, recall and F1-score were 0.78, 0.82 and 0.80.</a:t>
            </a:r>
          </a:p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The model correctly detected 80 of 98 fraudulent test transactions.</a:t>
            </a:r>
          </a:p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Top predictors were identified from model coefficients.</a:t>
            </a:r>
          </a:p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Power BI and Gradio added practical analytical and prediction capabilities.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05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62D4E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46304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Evaluate additional machine learning and deep learning models.</a:t>
            </a:r>
          </a:p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Introduce real-time transaction monitoring.</a:t>
            </a:r>
          </a:p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Explore advanced anomaly-detection techniques.</a:t>
            </a:r>
          </a:p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Continuously retrain with new transaction data.</a:t>
            </a:r>
          </a:p>
          <a:p>
            <a:pPr>
              <a:spcAft>
                <a:spcPts val="10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Optimize thresholds and deploy as a production-level application.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5074920"/>
            <a:ext cx="438912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86200" y="5074920"/>
            <a:ext cx="73152" cy="1005840"/>
          </a:xfrm>
          <a:prstGeom prst="rect">
            <a:avLst/>
          </a:prstGeom>
          <a:solidFill>
            <a:srgbClr val="228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87368" y="5239512"/>
            <a:ext cx="4069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A697D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7368" y="5586983"/>
            <a:ext cx="4069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62D4E"/>
                </a:solidFill>
                <a:latin typeface="Aptos"/>
              </a:defRPr>
            </a:pPr>
            <a:r>
              <a:t>Strong fraud discrimination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7368" y="6053328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A697D"/>
                </a:solidFill>
                <a:latin typeface="Aptos"/>
              </a:defRPr>
            </a:pPr>
            <a:r>
              <a:t>with a practical analytics and prediction workflow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A697D"/>
                </a:solidFill>
                <a:latin typeface="Aptos"/>
              </a:defRPr>
            </a:pPr>
            <a:r>
              <a:t>Credit Card Fraud Detection Using Machine Learning   •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0">
                <a:solidFill>
                  <a:srgbClr val="CDDCEB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CDE1"/>
                </a:solidFill>
                <a:latin typeface="Aptos"/>
              </a:defRPr>
            </a:pPr>
            <a:r>
              <a:t>Credit Card Fraud Detection Using Machine Learning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>
                <a:solidFill>
                  <a:srgbClr val="BED7EB"/>
                </a:solidFill>
                <a:latin typeface="Aptos Display"/>
              </a:defRPr>
            </a:pPr>
            <a:r>
              <a:t>Presented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Viswadharini Navamani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862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4CDE1"/>
                </a:solidFill>
                <a:latin typeface="Aptos"/>
              </a:defRPr>
            </a:pPr>
            <a:r>
              <a:t>Credit Card Fraud Detection Using Machine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